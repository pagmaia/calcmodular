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7556500" cy="10693400"/>
  <p:notesSz cx="6858000" cy="9144000"/>
  <p:embeddedFontLst>
    <p:embeddedFont>
      <p:font typeface="Agrandir Bold" charset="1" panose="00000800000000000000"/>
      <p:regular r:id="rId7"/>
    </p:embeddedFont>
    <p:embeddedFont>
      <p:font typeface="Agrandir" charset="1" panose="00000500000000000000"/>
      <p:regular r:id="rId8"/>
    </p:embeddedFont>
    <p:embeddedFont>
      <p:font typeface="Museo Moderno" charset="1" panose="00000000000000000000"/>
      <p:regular r:id="rId9"/>
    </p:embeddedFont>
    <p:embeddedFont>
      <p:font typeface="Open Sans" charset="1" panose="020B0606030504020204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5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1566000" y="156600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7560000"/>
                </a:moveTo>
                <a:lnTo>
                  <a:pt x="0" y="0"/>
                </a:ln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756000" y="10508914"/>
            <a:ext cx="60480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404684" y="1862589"/>
            <a:ext cx="3271661" cy="2190602"/>
            <a:chOff x="0" y="0"/>
            <a:chExt cx="1172489" cy="78506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72489" cy="785062"/>
            </a:xfrm>
            <a:custGeom>
              <a:avLst/>
              <a:gdLst/>
              <a:ahLst/>
              <a:cxnLst/>
              <a:rect r="r" b="b" t="t" l="l"/>
              <a:pathLst>
                <a:path h="785062" w="1172489">
                  <a:moveTo>
                    <a:pt x="54426" y="0"/>
                  </a:moveTo>
                  <a:lnTo>
                    <a:pt x="1118063" y="0"/>
                  </a:lnTo>
                  <a:cubicBezTo>
                    <a:pt x="1132498" y="0"/>
                    <a:pt x="1146341" y="5734"/>
                    <a:pt x="1156548" y="15941"/>
                  </a:cubicBezTo>
                  <a:cubicBezTo>
                    <a:pt x="1166755" y="26148"/>
                    <a:pt x="1172489" y="39991"/>
                    <a:pt x="1172489" y="54426"/>
                  </a:cubicBezTo>
                  <a:lnTo>
                    <a:pt x="1172489" y="730636"/>
                  </a:lnTo>
                  <a:cubicBezTo>
                    <a:pt x="1172489" y="745071"/>
                    <a:pt x="1166755" y="758914"/>
                    <a:pt x="1156548" y="769121"/>
                  </a:cubicBezTo>
                  <a:cubicBezTo>
                    <a:pt x="1146341" y="779328"/>
                    <a:pt x="1132498" y="785062"/>
                    <a:pt x="1118063" y="785062"/>
                  </a:cubicBezTo>
                  <a:lnTo>
                    <a:pt x="54426" y="785062"/>
                  </a:lnTo>
                  <a:cubicBezTo>
                    <a:pt x="39991" y="785062"/>
                    <a:pt x="26148" y="779328"/>
                    <a:pt x="15941" y="769121"/>
                  </a:cubicBezTo>
                  <a:cubicBezTo>
                    <a:pt x="5734" y="758914"/>
                    <a:pt x="0" y="745071"/>
                    <a:pt x="0" y="730636"/>
                  </a:cubicBezTo>
                  <a:lnTo>
                    <a:pt x="0" y="54426"/>
                  </a:lnTo>
                  <a:cubicBezTo>
                    <a:pt x="0" y="39991"/>
                    <a:pt x="5734" y="26148"/>
                    <a:pt x="15941" y="15941"/>
                  </a:cubicBezTo>
                  <a:cubicBezTo>
                    <a:pt x="26148" y="5734"/>
                    <a:pt x="39991" y="0"/>
                    <a:pt x="54426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172489" cy="8041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04684" y="4298635"/>
            <a:ext cx="6750632" cy="2112310"/>
            <a:chOff x="0" y="0"/>
            <a:chExt cx="2419274" cy="75700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19274" cy="757004"/>
            </a:xfrm>
            <a:custGeom>
              <a:avLst/>
              <a:gdLst/>
              <a:ahLst/>
              <a:cxnLst/>
              <a:rect r="r" b="b" t="t" l="l"/>
              <a:pathLst>
                <a:path h="757004" w="2419274">
                  <a:moveTo>
                    <a:pt x="26377" y="0"/>
                  </a:moveTo>
                  <a:lnTo>
                    <a:pt x="2392897" y="0"/>
                  </a:lnTo>
                  <a:cubicBezTo>
                    <a:pt x="2407465" y="0"/>
                    <a:pt x="2419274" y="11810"/>
                    <a:pt x="2419274" y="26377"/>
                  </a:cubicBezTo>
                  <a:lnTo>
                    <a:pt x="2419274" y="730627"/>
                  </a:lnTo>
                  <a:cubicBezTo>
                    <a:pt x="2419274" y="737623"/>
                    <a:pt x="2416495" y="744332"/>
                    <a:pt x="2411549" y="749279"/>
                  </a:cubicBezTo>
                  <a:cubicBezTo>
                    <a:pt x="2406602" y="754225"/>
                    <a:pt x="2399892" y="757004"/>
                    <a:pt x="2392897" y="757004"/>
                  </a:cubicBezTo>
                  <a:lnTo>
                    <a:pt x="26377" y="757004"/>
                  </a:lnTo>
                  <a:cubicBezTo>
                    <a:pt x="19382" y="757004"/>
                    <a:pt x="12672" y="754225"/>
                    <a:pt x="7726" y="749279"/>
                  </a:cubicBezTo>
                  <a:cubicBezTo>
                    <a:pt x="2779" y="744332"/>
                    <a:pt x="0" y="737623"/>
                    <a:pt x="0" y="730627"/>
                  </a:cubicBezTo>
                  <a:lnTo>
                    <a:pt x="0" y="26377"/>
                  </a:lnTo>
                  <a:cubicBezTo>
                    <a:pt x="0" y="19382"/>
                    <a:pt x="2779" y="12672"/>
                    <a:pt x="7726" y="7726"/>
                  </a:cubicBezTo>
                  <a:cubicBezTo>
                    <a:pt x="12672" y="2779"/>
                    <a:pt x="19382" y="0"/>
                    <a:pt x="26377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419274" cy="7760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17274" y="334527"/>
            <a:ext cx="2268000" cy="1334032"/>
            <a:chOff x="0" y="0"/>
            <a:chExt cx="812800" cy="47808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478087"/>
            </a:xfrm>
            <a:custGeom>
              <a:avLst/>
              <a:gdLst/>
              <a:ahLst/>
              <a:cxnLst/>
              <a:rect r="r" b="b" t="t" l="l"/>
              <a:pathLst>
                <a:path h="478087" w="812800">
                  <a:moveTo>
                    <a:pt x="78512" y="0"/>
                  </a:moveTo>
                  <a:lnTo>
                    <a:pt x="734288" y="0"/>
                  </a:lnTo>
                  <a:cubicBezTo>
                    <a:pt x="755111" y="0"/>
                    <a:pt x="775081" y="8272"/>
                    <a:pt x="789805" y="22995"/>
                  </a:cubicBezTo>
                  <a:cubicBezTo>
                    <a:pt x="804528" y="37719"/>
                    <a:pt x="812800" y="57689"/>
                    <a:pt x="812800" y="78512"/>
                  </a:cubicBezTo>
                  <a:lnTo>
                    <a:pt x="812800" y="399575"/>
                  </a:lnTo>
                  <a:cubicBezTo>
                    <a:pt x="812800" y="420398"/>
                    <a:pt x="804528" y="440368"/>
                    <a:pt x="789805" y="455092"/>
                  </a:cubicBezTo>
                  <a:cubicBezTo>
                    <a:pt x="775081" y="469815"/>
                    <a:pt x="755111" y="478087"/>
                    <a:pt x="734288" y="478087"/>
                  </a:cubicBezTo>
                  <a:lnTo>
                    <a:pt x="78512" y="478087"/>
                  </a:lnTo>
                  <a:cubicBezTo>
                    <a:pt x="57689" y="478087"/>
                    <a:pt x="37719" y="469815"/>
                    <a:pt x="22995" y="455092"/>
                  </a:cubicBezTo>
                  <a:cubicBezTo>
                    <a:pt x="8272" y="440368"/>
                    <a:pt x="0" y="420398"/>
                    <a:pt x="0" y="399575"/>
                  </a:cubicBezTo>
                  <a:lnTo>
                    <a:pt x="0" y="78512"/>
                  </a:lnTo>
                  <a:cubicBezTo>
                    <a:pt x="0" y="57689"/>
                    <a:pt x="8272" y="37719"/>
                    <a:pt x="22995" y="22995"/>
                  </a:cubicBezTo>
                  <a:cubicBezTo>
                    <a:pt x="37719" y="8272"/>
                    <a:pt x="57689" y="0"/>
                    <a:pt x="78512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812800" cy="4971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883655" y="1874205"/>
            <a:ext cx="3271661" cy="2178985"/>
            <a:chOff x="0" y="0"/>
            <a:chExt cx="1172489" cy="78089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72489" cy="780899"/>
            </a:xfrm>
            <a:custGeom>
              <a:avLst/>
              <a:gdLst/>
              <a:ahLst/>
              <a:cxnLst/>
              <a:rect r="r" b="b" t="t" l="l"/>
              <a:pathLst>
                <a:path h="780899" w="1172489">
                  <a:moveTo>
                    <a:pt x="54426" y="0"/>
                  </a:moveTo>
                  <a:lnTo>
                    <a:pt x="1118063" y="0"/>
                  </a:lnTo>
                  <a:cubicBezTo>
                    <a:pt x="1132498" y="0"/>
                    <a:pt x="1146341" y="5734"/>
                    <a:pt x="1156548" y="15941"/>
                  </a:cubicBezTo>
                  <a:cubicBezTo>
                    <a:pt x="1166755" y="26148"/>
                    <a:pt x="1172489" y="39991"/>
                    <a:pt x="1172489" y="54426"/>
                  </a:cubicBezTo>
                  <a:lnTo>
                    <a:pt x="1172489" y="726473"/>
                  </a:lnTo>
                  <a:cubicBezTo>
                    <a:pt x="1172489" y="740908"/>
                    <a:pt x="1166755" y="754751"/>
                    <a:pt x="1156548" y="764958"/>
                  </a:cubicBezTo>
                  <a:cubicBezTo>
                    <a:pt x="1146341" y="775165"/>
                    <a:pt x="1132498" y="780899"/>
                    <a:pt x="1118063" y="780899"/>
                  </a:cubicBezTo>
                  <a:lnTo>
                    <a:pt x="54426" y="780899"/>
                  </a:lnTo>
                  <a:cubicBezTo>
                    <a:pt x="39991" y="780899"/>
                    <a:pt x="26148" y="775165"/>
                    <a:pt x="15941" y="764958"/>
                  </a:cubicBezTo>
                  <a:cubicBezTo>
                    <a:pt x="5734" y="754751"/>
                    <a:pt x="0" y="740908"/>
                    <a:pt x="0" y="726473"/>
                  </a:cubicBezTo>
                  <a:lnTo>
                    <a:pt x="0" y="54426"/>
                  </a:lnTo>
                  <a:cubicBezTo>
                    <a:pt x="0" y="39991"/>
                    <a:pt x="5734" y="26148"/>
                    <a:pt x="15941" y="15941"/>
                  </a:cubicBezTo>
                  <a:cubicBezTo>
                    <a:pt x="26148" y="5734"/>
                    <a:pt x="39991" y="0"/>
                    <a:pt x="54426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1172489" cy="7999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0"/>
                </a:lnSpc>
              </a:pPr>
            </a:p>
          </p:txBody>
        </p:sp>
      </p:grp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4969205" y="6742415"/>
            <a:ext cx="2002065" cy="2030603"/>
            <a:chOff x="0" y="0"/>
            <a:chExt cx="11582400" cy="11747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23136" y="244952"/>
              <a:ext cx="11306283" cy="11266943"/>
            </a:xfrm>
            <a:custGeom>
              <a:avLst/>
              <a:gdLst/>
              <a:ahLst/>
              <a:cxnLst/>
              <a:rect r="r" b="b" t="t" l="l"/>
              <a:pathLst>
                <a:path h="11266943" w="11306283">
                  <a:moveTo>
                    <a:pt x="5653142" y="56"/>
                  </a:moveTo>
                  <a:cubicBezTo>
                    <a:pt x="3636485" y="-8971"/>
                    <a:pt x="1769147" y="1062773"/>
                    <a:pt x="758206" y="2809466"/>
                  </a:cubicBezTo>
                  <a:cubicBezTo>
                    <a:pt x="-252735" y="4556159"/>
                    <a:pt x="-252735" y="6710783"/>
                    <a:pt x="758206" y="8457477"/>
                  </a:cubicBezTo>
                  <a:cubicBezTo>
                    <a:pt x="1769147" y="10204170"/>
                    <a:pt x="3636485" y="11275914"/>
                    <a:pt x="5653142" y="11266886"/>
                  </a:cubicBezTo>
                  <a:cubicBezTo>
                    <a:pt x="7669798" y="11275914"/>
                    <a:pt x="9537136" y="10204170"/>
                    <a:pt x="10548077" y="8457477"/>
                  </a:cubicBezTo>
                  <a:cubicBezTo>
                    <a:pt x="11559018" y="6710783"/>
                    <a:pt x="11559018" y="4556159"/>
                    <a:pt x="10548077" y="2809466"/>
                  </a:cubicBezTo>
                  <a:cubicBezTo>
                    <a:pt x="9537136" y="1062773"/>
                    <a:pt x="7669798" y="-8971"/>
                    <a:pt x="5653142" y="56"/>
                  </a:cubicBezTo>
                  <a:close/>
                </a:path>
              </a:pathLst>
            </a:custGeom>
            <a:blipFill>
              <a:blip r:embed="rId3"/>
              <a:stretch>
                <a:fillRect l="-972" t="0" r="-972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575567" cy="11745316"/>
            </a:xfrm>
            <a:custGeom>
              <a:avLst/>
              <a:gdLst/>
              <a:ahLst/>
              <a:cxnLst/>
              <a:rect r="r" b="b" t="t" l="l"/>
              <a:pathLst>
                <a:path h="11745316" w="11575567">
                  <a:moveTo>
                    <a:pt x="0" y="0"/>
                  </a:moveTo>
                  <a:lnTo>
                    <a:pt x="11575567" y="0"/>
                  </a:lnTo>
                  <a:lnTo>
                    <a:pt x="11575567" y="11745316"/>
                  </a:lnTo>
                  <a:lnTo>
                    <a:pt x="0" y="11745316"/>
                  </a:lnTo>
                  <a:close/>
                </a:path>
              </a:pathLst>
            </a:custGeom>
            <a:blipFill>
              <a:blip r:embed="rId4"/>
              <a:stretch>
                <a:fillRect l="-272" t="0" r="-272" b="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588730" y="6496670"/>
            <a:ext cx="4737846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0"/>
              </a:lnSpc>
            </a:pPr>
            <a:r>
              <a:rPr lang="en-US" sz="1500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Gráfico de Desempenho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04186" y="9082263"/>
            <a:ext cx="4737846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0"/>
              </a:lnSpc>
            </a:pPr>
            <a:r>
              <a:rPr lang="en-US" sz="1500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Conclusão: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04186" y="2016275"/>
            <a:ext cx="2903568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0"/>
              </a:lnSpc>
            </a:pPr>
            <a:r>
              <a:rPr lang="en-US" sz="1500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O que foi desenvolvido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42655" y="2292484"/>
            <a:ext cx="2795718" cy="1129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83"/>
              </a:lnSpc>
              <a:spcBef>
                <a:spcPct val="0"/>
              </a:spcBef>
            </a:pPr>
            <a:r>
              <a:rPr lang="en-US" sz="1399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A equipe desenvolveu uma ferramenta web para analisar e exibir o comportamento cíclico das operações modulares: </a:t>
            </a:r>
            <a:r>
              <a:rPr lang="en-US" b="true" sz="1399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soma, multiplicação e exponenciação modular.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56000" y="4684702"/>
            <a:ext cx="6031499" cy="1672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2979" indent="-151490" lvl="1">
              <a:lnSpc>
                <a:spcPts val="1487"/>
              </a:lnSpc>
              <a:buFont typeface="Arial"/>
              <a:buChar char="•"/>
            </a:pPr>
            <a:r>
              <a:rPr lang="en-US" b="true" sz="1403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Soma</a:t>
            </a:r>
            <a:r>
              <a:rPr lang="en-US" sz="1403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: é uma forma mais simples, o movimento do ponteiro ocorre de forma linear, formando uma figura parecida com um polígono regular ou uma estrela dentro de um círculo.</a:t>
            </a:r>
          </a:p>
          <a:p>
            <a:pPr algn="l" marL="302979" indent="-151490" lvl="1">
              <a:lnSpc>
                <a:spcPts val="1487"/>
              </a:lnSpc>
              <a:buFont typeface="Arial"/>
              <a:buChar char="•"/>
            </a:pPr>
            <a:r>
              <a:rPr lang="en-US" b="true" sz="1403" strike="noStrike" u="non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Multiplicação</a:t>
            </a:r>
            <a:r>
              <a:rPr lang="en-US" sz="1403" strike="noStrike" u="none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: ao invés do ponteiro "caminhar", como na soma, na multiplicação ele realiza saltos, os valores são conectados por linhas, formando um </a:t>
            </a:r>
            <a:r>
              <a:rPr lang="en-US" b="true" sz="1403" strike="noStrike" u="non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Cardioide.</a:t>
            </a:r>
          </a:p>
          <a:p>
            <a:pPr algn="l" marL="302979" indent="-151490" lvl="1">
              <a:lnSpc>
                <a:spcPts val="1487"/>
              </a:lnSpc>
              <a:buFont typeface="Arial"/>
              <a:buChar char="•"/>
            </a:pPr>
            <a:r>
              <a:rPr lang="en-US" b="true" sz="1403" strike="noStrike" u="non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Exponenciação: </a:t>
            </a:r>
            <a:r>
              <a:rPr lang="en-US" sz="1403" strike="noStrike" u="none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Ela apresenta saltos diferentes da multiplicação, que dão a impressão de aleatoriedade, essa impressão é utilizada na base da criptografia. Esse gráfico forma uma </a:t>
            </a:r>
            <a:r>
              <a:rPr lang="en-US" b="true" sz="1403" strike="noStrike" u="non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Órbita</a:t>
            </a:r>
            <a:r>
              <a:rPr lang="en-US" sz="1403" strike="noStrike" u="none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62691" y="9434053"/>
            <a:ext cx="6234619" cy="100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275"/>
              </a:lnSpc>
            </a:pPr>
            <a:r>
              <a:rPr lang="en-US" sz="1203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Em suma, todas essas operações têm diversos usos na tecnologia, por exemplo: </a:t>
            </a:r>
            <a:r>
              <a:rPr lang="en-US" sz="1203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a multiplicação </a:t>
            </a:r>
            <a:r>
              <a:rPr lang="en-US" sz="1203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é utilizada na geração de texturas para objetos 3D, </a:t>
            </a:r>
            <a:r>
              <a:rPr lang="en-US" sz="1203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a soma </a:t>
            </a:r>
            <a:r>
              <a:rPr lang="en-US" sz="1203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é utilizada para garantir que dados não se corromperam durante uma transferência e a </a:t>
            </a:r>
            <a:r>
              <a:rPr lang="en-US" sz="1203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exponenciação </a:t>
            </a:r>
            <a:r>
              <a:rPr lang="en-US" sz="1203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é utilizada como base para a criptografia. </a:t>
            </a:r>
          </a:p>
          <a:p>
            <a:pPr algn="just" marL="0" indent="0" lvl="0">
              <a:lnSpc>
                <a:spcPts val="1275"/>
              </a:lnSpc>
              <a:spcBef>
                <a:spcPct val="0"/>
              </a:spcBef>
            </a:pPr>
            <a:r>
              <a:rPr lang="en-US" sz="1203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Tendo isso em vista, essa ferramenta facilita a compreensão de cada uma delas, através do gráfico, para que sejam usadas da maneira mais eficiente em suas áreas.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04186" y="598075"/>
            <a:ext cx="2068497" cy="910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9"/>
              </a:lnSpc>
            </a:pPr>
            <a:r>
              <a:rPr lang="en-US" sz="2441">
                <a:solidFill>
                  <a:srgbClr val="F8F8EC"/>
                </a:solidFill>
                <a:latin typeface="Museo Moderno"/>
                <a:ea typeface="Museo Moderno"/>
                <a:cs typeface="Museo Moderno"/>
                <a:sym typeface="Museo Moderno"/>
              </a:rPr>
              <a:t>RELATÓRIO DA PESQUISA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067702" y="2016275"/>
            <a:ext cx="2903568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0"/>
              </a:lnSpc>
            </a:pPr>
            <a:r>
              <a:rPr lang="en-US" sz="1500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Objetivo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187447" y="2292484"/>
            <a:ext cx="2664078" cy="1672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87"/>
              </a:lnSpc>
              <a:spcBef>
                <a:spcPct val="0"/>
              </a:spcBef>
            </a:pPr>
            <a:r>
              <a:rPr lang="en-US" sz="1403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O sistema representa o funcionamento dessas operações por meio de um relógio e as diferentes formas que seu ponteiro se move. Essa representação visual busca facilitar a compreensão do comportamento dessas funções e facilitar o uso delas.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88730" y="4458007"/>
            <a:ext cx="6382539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0"/>
              </a:lnSpc>
            </a:pPr>
            <a:r>
              <a:rPr lang="en-US" sz="1500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Operações</a:t>
            </a:r>
          </a:p>
        </p:txBody>
      </p:sp>
      <p:grpSp>
        <p:nvGrpSpPr>
          <p:cNvPr name="Group 29" id="29"/>
          <p:cNvGrpSpPr>
            <a:grpSpLocks noChangeAspect="true"/>
          </p:cNvGrpSpPr>
          <p:nvPr/>
        </p:nvGrpSpPr>
        <p:grpSpPr>
          <a:xfrm rot="0">
            <a:off x="2778967" y="6742415"/>
            <a:ext cx="2002065" cy="2030603"/>
            <a:chOff x="0" y="0"/>
            <a:chExt cx="11582400" cy="117475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23136" y="244952"/>
              <a:ext cx="11306283" cy="11266943"/>
            </a:xfrm>
            <a:custGeom>
              <a:avLst/>
              <a:gdLst/>
              <a:ahLst/>
              <a:cxnLst/>
              <a:rect r="r" b="b" t="t" l="l"/>
              <a:pathLst>
                <a:path h="11266943" w="11306283">
                  <a:moveTo>
                    <a:pt x="5653142" y="56"/>
                  </a:moveTo>
                  <a:cubicBezTo>
                    <a:pt x="3636485" y="-8971"/>
                    <a:pt x="1769147" y="1062773"/>
                    <a:pt x="758206" y="2809466"/>
                  </a:cubicBezTo>
                  <a:cubicBezTo>
                    <a:pt x="-252735" y="4556159"/>
                    <a:pt x="-252735" y="6710783"/>
                    <a:pt x="758206" y="8457477"/>
                  </a:cubicBezTo>
                  <a:cubicBezTo>
                    <a:pt x="1769147" y="10204170"/>
                    <a:pt x="3636485" y="11275914"/>
                    <a:pt x="5653142" y="11266886"/>
                  </a:cubicBezTo>
                  <a:cubicBezTo>
                    <a:pt x="7669798" y="11275914"/>
                    <a:pt x="9537136" y="10204170"/>
                    <a:pt x="10548077" y="8457477"/>
                  </a:cubicBezTo>
                  <a:cubicBezTo>
                    <a:pt x="11559018" y="6710783"/>
                    <a:pt x="11559018" y="4556159"/>
                    <a:pt x="10548077" y="2809466"/>
                  </a:cubicBezTo>
                  <a:cubicBezTo>
                    <a:pt x="9537136" y="1062773"/>
                    <a:pt x="7669798" y="-8971"/>
                    <a:pt x="5653142" y="56"/>
                  </a:cubicBezTo>
                  <a:close/>
                </a:path>
              </a:pathLst>
            </a:custGeom>
            <a:blipFill>
              <a:blip r:embed="rId5"/>
              <a:stretch>
                <a:fillRect l="-4481" t="0" r="-4481" b="0"/>
              </a:stretch>
            </a:blip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575567" cy="11745316"/>
            </a:xfrm>
            <a:custGeom>
              <a:avLst/>
              <a:gdLst/>
              <a:ahLst/>
              <a:cxnLst/>
              <a:rect r="r" b="b" t="t" l="l"/>
              <a:pathLst>
                <a:path h="11745316" w="11575567">
                  <a:moveTo>
                    <a:pt x="0" y="0"/>
                  </a:moveTo>
                  <a:lnTo>
                    <a:pt x="11575567" y="0"/>
                  </a:lnTo>
                  <a:lnTo>
                    <a:pt x="11575567" y="11745316"/>
                  </a:lnTo>
                  <a:lnTo>
                    <a:pt x="0" y="11745316"/>
                  </a:lnTo>
                  <a:close/>
                </a:path>
              </a:pathLst>
            </a:custGeom>
            <a:blipFill>
              <a:blip r:embed="rId4"/>
              <a:stretch>
                <a:fillRect l="-272" t="0" r="-272" b="0"/>
              </a:stretch>
            </a:blipFill>
          </p:spPr>
        </p:sp>
      </p:grpSp>
      <p:grpSp>
        <p:nvGrpSpPr>
          <p:cNvPr name="Group 32" id="32"/>
          <p:cNvGrpSpPr>
            <a:grpSpLocks noChangeAspect="true"/>
          </p:cNvGrpSpPr>
          <p:nvPr/>
        </p:nvGrpSpPr>
        <p:grpSpPr>
          <a:xfrm rot="0">
            <a:off x="604186" y="6696695"/>
            <a:ext cx="2002065" cy="2030603"/>
            <a:chOff x="0" y="0"/>
            <a:chExt cx="11582400" cy="117475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23136" y="244952"/>
              <a:ext cx="11306283" cy="11266943"/>
            </a:xfrm>
            <a:custGeom>
              <a:avLst/>
              <a:gdLst/>
              <a:ahLst/>
              <a:cxnLst/>
              <a:rect r="r" b="b" t="t" l="l"/>
              <a:pathLst>
                <a:path h="11266943" w="11306283">
                  <a:moveTo>
                    <a:pt x="5653142" y="56"/>
                  </a:moveTo>
                  <a:cubicBezTo>
                    <a:pt x="3636485" y="-8971"/>
                    <a:pt x="1769147" y="1062773"/>
                    <a:pt x="758206" y="2809466"/>
                  </a:cubicBezTo>
                  <a:cubicBezTo>
                    <a:pt x="-252735" y="4556159"/>
                    <a:pt x="-252735" y="6710783"/>
                    <a:pt x="758206" y="8457477"/>
                  </a:cubicBezTo>
                  <a:cubicBezTo>
                    <a:pt x="1769147" y="10204170"/>
                    <a:pt x="3636485" y="11275914"/>
                    <a:pt x="5653142" y="11266886"/>
                  </a:cubicBezTo>
                  <a:cubicBezTo>
                    <a:pt x="7669798" y="11275914"/>
                    <a:pt x="9537136" y="10204170"/>
                    <a:pt x="10548077" y="8457477"/>
                  </a:cubicBezTo>
                  <a:cubicBezTo>
                    <a:pt x="11559018" y="6710783"/>
                    <a:pt x="11559018" y="4556159"/>
                    <a:pt x="10548077" y="2809466"/>
                  </a:cubicBezTo>
                  <a:cubicBezTo>
                    <a:pt x="9537136" y="1062773"/>
                    <a:pt x="7669798" y="-8971"/>
                    <a:pt x="5653142" y="56"/>
                  </a:cubicBezTo>
                  <a:close/>
                </a:path>
              </a:pathLst>
            </a:custGeom>
            <a:blipFill>
              <a:blip r:embed="rId6"/>
              <a:stretch>
                <a:fillRect l="223" t="-1231" r="223" b="-1231"/>
              </a:stretch>
            </a:blip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575567" cy="11745316"/>
            </a:xfrm>
            <a:custGeom>
              <a:avLst/>
              <a:gdLst/>
              <a:ahLst/>
              <a:cxnLst/>
              <a:rect r="r" b="b" t="t" l="l"/>
              <a:pathLst>
                <a:path h="11745316" w="11575567">
                  <a:moveTo>
                    <a:pt x="0" y="0"/>
                  </a:moveTo>
                  <a:lnTo>
                    <a:pt x="11575567" y="0"/>
                  </a:lnTo>
                  <a:lnTo>
                    <a:pt x="11575567" y="11745316"/>
                  </a:lnTo>
                  <a:lnTo>
                    <a:pt x="0" y="11745316"/>
                  </a:lnTo>
                  <a:close/>
                </a:path>
              </a:pathLst>
            </a:custGeom>
            <a:blipFill>
              <a:blip r:embed="rId4"/>
              <a:stretch>
                <a:fillRect l="-272" t="0" r="-272" b="0"/>
              </a:stretch>
            </a:blip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725659" y="8698723"/>
            <a:ext cx="175912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gráfico multiplicação 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827387" y="8698723"/>
            <a:ext cx="1905227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gráfico exponenciação 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412713" y="8744443"/>
            <a:ext cx="1115049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gráfico soma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DAHDyyzRCHY</dc:identifier>
  <dcterms:modified xsi:type="dcterms:W3CDTF">2011-08-01T06:04:30Z</dcterms:modified>
  <cp:revision>1</cp:revision>
  <dc:title>Verde Laranja e Branco Corporativo Relatório A4</dc:title>
</cp:coreProperties>
</file>