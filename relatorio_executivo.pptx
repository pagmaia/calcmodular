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1" Target="docProps/thumbnail.jpeg" Type="http://schemas.openxmlformats.org/package/2006/relationships/metadata/thumbnai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9" r:id="rId5"/>
  </p:sldMasterIdLst>
  <p:sldIdLst>
    <p:sldId id="256" r:id="rId6"/>
  </p:sldIdLst>
  <p:sldSz cx="7556500" cy="10693400"/>
  <p:notesSz cx="6858000" cy="9144000"/>
  <p:embeddedFontLst>
    <p:embeddedFont>
      <p:font panose="00000800000000000000" typeface="Agrandir Bold"/>
      <p:regular r:id="rId7"/>
    </p:embeddedFont>
    <p:embeddedFont>
      <p:font panose="00000500000000000000" typeface="Agrandir"/>
      <p:regular r:id="rId8"/>
    </p:embeddedFont>
    <p:embeddedFont>
      <p:font panose="00000000000000000000" typeface="Museo Moderno"/>
      <p:regular r:id="rId9"/>
    </p:embeddedFont>
    <p:embeddedFont>
      <p:font panose="020B0606030504020204" typeface="Open Sans"/>
      <p:regular r:id="rId10"/>
    </p:embeddedFont>
  </p:embeddedFontLst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autoAdjust="0" sz="15620"/>
    <p:restoredTop autoAdjust="0" sz="94622"/>
  </p:normalViewPr>
  <p:slideViewPr>
    <p:cSldViewPr>
      <p:cViewPr varScale="1">
        <p:scale>
          <a:sx d="100" n="74"/>
          <a:sy d="100" n="74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<Relationships xmlns="http://schemas.openxmlformats.org/package/2006/relationships"><Relationship Id="rId10" Target="fonts/font10.fntdata" Type="http://schemas.openxmlformats.org/officeDocument/2006/relationships/font"/><Relationship Id="rId9" Target="fonts/font9.fntdata" Type="http://schemas.openxmlformats.org/officeDocument/2006/relationships/font"/><Relationship Id="rId8" Target="fonts/font8.fntdata" Type="http://schemas.openxmlformats.org/officeDocument/2006/relationships/font"/><Relationship Id="rId7" Target="fonts/font7.fntdata" Type="http://schemas.openxmlformats.org/officeDocument/2006/relationships/font"/><Relationship Id="rId6" Target="slides/slide1.xml" Type="http://schemas.openxmlformats.org/officeDocument/2006/relationships/slide"/><Relationship Id="rId5" Target="slideMasters/slideMaster1.xml" Type="http://schemas.openxmlformats.org/officeDocument/2006/relationships/slideMaster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1" Target="theme/theme1.xml" Type="http://schemas.openxmlformats.org/officeDocument/2006/relationships/theme"/></Relationship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numCol="1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 numCol="1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numCol="1"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6" Target="../media/image5.jpeg" Type="http://schemas.openxmlformats.org/officeDocument/2006/relationships/image"/><Relationship Id="rId5" Target="../media/image4.jpeg" Type="http://schemas.openxmlformats.org/officeDocument/2006/relationships/image"/><Relationship Id="rId4" Target="../media/image3.png" Type="http://schemas.openxmlformats.org/officeDocument/2006/relationships/image"/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576369" y="1576373"/>
            <a:ext cx="10692003" cy="7559878"/>
          </a:xfrm>
          <a:custGeom>
            <a:avLst/>
            <a:gdLst/>
            <a:ahLst/>
            <a:cxnLst/>
            <a:rect b="b" l="l" r="r" t="t"/>
            <a:pathLst>
              <a:path h="7560000" w="10692000">
                <a:moveTo>
                  <a:pt x="0" y="7560000"/>
                </a:moveTo>
                <a:lnTo>
                  <a:pt x="0" y="0"/>
                </a:ln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close/>
              </a:path>
            </a:pathLst>
          </a:custGeom>
          <a:blipFill>
            <a:blip r:embed="rId2"/>
            <a:stretch>
              <a:fillRect b="-1511" l="-4132" r="-4132" t="-1511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756000" y="10508914"/>
            <a:ext cx="604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len="sm" type="none" w="sm"/>
            <a:tailEnd len="sm" type="none" w="sm"/>
          </a:ln>
        </p:spPr>
      </p:sp>
      <p:grpSp>
        <p:nvGrpSpPr>
          <p:cNvPr id="4" name="Group 4"/>
          <p:cNvGrpSpPr/>
          <p:nvPr/>
        </p:nvGrpSpPr>
        <p:grpSpPr>
          <a:xfrm>
            <a:off x="404684" y="1862589"/>
            <a:ext cx="3271661" cy="2190602"/>
            <a:chOff x="0" y="0"/>
            <a:chExt cx="1172489" cy="7850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72489" cy="785062"/>
            </a:xfrm>
            <a:custGeom>
              <a:avLst/>
              <a:gdLst/>
              <a:ahLst/>
              <a:cxnLst/>
              <a:rect b="b" l="l" r="r" t="t"/>
              <a:pathLst>
                <a:path h="785062" w="1172489">
                  <a:moveTo>
                    <a:pt x="54426" y="0"/>
                  </a:moveTo>
                  <a:lnTo>
                    <a:pt x="1118063" y="0"/>
                  </a:lnTo>
                  <a:cubicBezTo>
                    <a:pt x="1132498" y="0"/>
                    <a:pt x="1146341" y="5734"/>
                    <a:pt x="1156548" y="15941"/>
                  </a:cubicBezTo>
                  <a:cubicBezTo>
                    <a:pt x="1166755" y="26148"/>
                    <a:pt x="1172489" y="39991"/>
                    <a:pt x="1172489" y="54426"/>
                  </a:cubicBezTo>
                  <a:lnTo>
                    <a:pt x="1172489" y="730636"/>
                  </a:lnTo>
                  <a:cubicBezTo>
                    <a:pt x="1172489" y="745071"/>
                    <a:pt x="1166755" y="758914"/>
                    <a:pt x="1156548" y="769121"/>
                  </a:cubicBezTo>
                  <a:cubicBezTo>
                    <a:pt x="1146341" y="779328"/>
                    <a:pt x="1132498" y="785062"/>
                    <a:pt x="1118063" y="785062"/>
                  </a:cubicBezTo>
                  <a:lnTo>
                    <a:pt x="54426" y="785062"/>
                  </a:lnTo>
                  <a:cubicBezTo>
                    <a:pt x="39991" y="785062"/>
                    <a:pt x="26148" y="779328"/>
                    <a:pt x="15941" y="769121"/>
                  </a:cubicBezTo>
                  <a:cubicBezTo>
                    <a:pt x="5734" y="758914"/>
                    <a:pt x="0" y="745071"/>
                    <a:pt x="0" y="730636"/>
                  </a:cubicBezTo>
                  <a:lnTo>
                    <a:pt x="0" y="54426"/>
                  </a:lnTo>
                  <a:cubicBezTo>
                    <a:pt x="0" y="39991"/>
                    <a:pt x="5734" y="26148"/>
                    <a:pt x="15941" y="15941"/>
                  </a:cubicBezTo>
                  <a:cubicBezTo>
                    <a:pt x="26148" y="5734"/>
                    <a:pt x="39991" y="0"/>
                    <a:pt x="54426" y="0"/>
                  </a:cubicBezTo>
                  <a:close/>
                </a:path>
              </a:pathLst>
            </a:custGeom>
            <a:ln cap="rnd"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172489" cy="804112"/>
            </a:xfrm>
            <a:prstGeom prst="rect">
              <a:avLst/>
            </a:prstGeom>
          </p:spPr>
          <p:txBody>
            <a:bodyPr anchor="ctr" bIns="50800" lIns="50800" numCol="1" rIns="50800" rtlCol="0" tIns="50800"/>
            <a:lstStyle/>
            <a:p>
              <a:pPr algn="ctr">
                <a:lnSpc>
                  <a:spcPts val="159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4684" y="4298635"/>
            <a:ext cx="6750632" cy="2112310"/>
            <a:chOff x="0" y="0"/>
            <a:chExt cx="2419274" cy="7570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19274" cy="757004"/>
            </a:xfrm>
            <a:custGeom>
              <a:avLst/>
              <a:gdLst/>
              <a:ahLst/>
              <a:cxnLst/>
              <a:rect b="b" l="l" r="r" t="t"/>
              <a:pathLst>
                <a:path h="757004" w="2419274">
                  <a:moveTo>
                    <a:pt x="26377" y="0"/>
                  </a:moveTo>
                  <a:lnTo>
                    <a:pt x="2392897" y="0"/>
                  </a:lnTo>
                  <a:cubicBezTo>
                    <a:pt x="2407465" y="0"/>
                    <a:pt x="2419274" y="11810"/>
                    <a:pt x="2419274" y="26377"/>
                  </a:cubicBezTo>
                  <a:lnTo>
                    <a:pt x="2419274" y="730627"/>
                  </a:lnTo>
                  <a:cubicBezTo>
                    <a:pt x="2419274" y="737623"/>
                    <a:pt x="2416495" y="744332"/>
                    <a:pt x="2411549" y="749279"/>
                  </a:cubicBezTo>
                  <a:cubicBezTo>
                    <a:pt x="2406602" y="754225"/>
                    <a:pt x="2399892" y="757004"/>
                    <a:pt x="2392897" y="757004"/>
                  </a:cubicBezTo>
                  <a:lnTo>
                    <a:pt x="26377" y="757004"/>
                  </a:lnTo>
                  <a:cubicBezTo>
                    <a:pt x="19382" y="757004"/>
                    <a:pt x="12672" y="754225"/>
                    <a:pt x="7726" y="749279"/>
                  </a:cubicBezTo>
                  <a:cubicBezTo>
                    <a:pt x="2779" y="744332"/>
                    <a:pt x="0" y="737623"/>
                    <a:pt x="0" y="730627"/>
                  </a:cubicBezTo>
                  <a:lnTo>
                    <a:pt x="0" y="26377"/>
                  </a:lnTo>
                  <a:cubicBezTo>
                    <a:pt x="0" y="19382"/>
                    <a:pt x="2779" y="12672"/>
                    <a:pt x="7726" y="7726"/>
                  </a:cubicBezTo>
                  <a:cubicBezTo>
                    <a:pt x="12672" y="2779"/>
                    <a:pt x="19382" y="0"/>
                    <a:pt x="26377" y="0"/>
                  </a:cubicBezTo>
                  <a:close/>
                </a:path>
              </a:pathLst>
            </a:custGeom>
            <a:ln cap="rnd"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419274" cy="776054"/>
            </a:xfrm>
            <a:prstGeom prst="rect">
              <a:avLst/>
            </a:prstGeom>
          </p:spPr>
          <p:txBody>
            <a:bodyPr anchor="ctr" bIns="50800" lIns="50800" numCol="1" rIns="50800" rtlCol="0" tIns="50800"/>
            <a:lstStyle/>
            <a:p>
              <a:pPr algn="ctr">
                <a:lnSpc>
                  <a:spcPts val="159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7274" y="334527"/>
            <a:ext cx="2268000" cy="1334032"/>
            <a:chOff x="0" y="0"/>
            <a:chExt cx="812800" cy="4780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78087"/>
            </a:xfrm>
            <a:custGeom>
              <a:avLst/>
              <a:gdLst/>
              <a:ahLst/>
              <a:cxnLst/>
              <a:rect b="b" l="l" r="r" t="t"/>
              <a:pathLst>
                <a:path h="478087" w="812800">
                  <a:moveTo>
                    <a:pt x="78512" y="0"/>
                  </a:moveTo>
                  <a:lnTo>
                    <a:pt x="734288" y="0"/>
                  </a:lnTo>
                  <a:cubicBezTo>
                    <a:pt x="755111" y="0"/>
                    <a:pt x="775081" y="8272"/>
                    <a:pt x="789805" y="22995"/>
                  </a:cubicBezTo>
                  <a:cubicBezTo>
                    <a:pt x="804528" y="37719"/>
                    <a:pt x="812800" y="57689"/>
                    <a:pt x="812800" y="78512"/>
                  </a:cubicBezTo>
                  <a:lnTo>
                    <a:pt x="812800" y="399575"/>
                  </a:lnTo>
                  <a:cubicBezTo>
                    <a:pt x="812800" y="420398"/>
                    <a:pt x="804528" y="440368"/>
                    <a:pt x="789805" y="455092"/>
                  </a:cubicBezTo>
                  <a:cubicBezTo>
                    <a:pt x="775081" y="469815"/>
                    <a:pt x="755111" y="478087"/>
                    <a:pt x="734288" y="478087"/>
                  </a:cubicBezTo>
                  <a:lnTo>
                    <a:pt x="78512" y="478087"/>
                  </a:lnTo>
                  <a:cubicBezTo>
                    <a:pt x="57689" y="478087"/>
                    <a:pt x="37719" y="469815"/>
                    <a:pt x="22995" y="455092"/>
                  </a:cubicBezTo>
                  <a:cubicBezTo>
                    <a:pt x="8272" y="440368"/>
                    <a:pt x="0" y="420398"/>
                    <a:pt x="0" y="399575"/>
                  </a:cubicBezTo>
                  <a:lnTo>
                    <a:pt x="0" y="78512"/>
                  </a:lnTo>
                  <a:cubicBezTo>
                    <a:pt x="0" y="57689"/>
                    <a:pt x="8272" y="37719"/>
                    <a:pt x="22995" y="22995"/>
                  </a:cubicBezTo>
                  <a:cubicBezTo>
                    <a:pt x="37719" y="8272"/>
                    <a:pt x="57689" y="0"/>
                    <a:pt x="78512" y="0"/>
                  </a:cubicBezTo>
                  <a:close/>
                </a:path>
              </a:pathLst>
            </a:custGeom>
            <a:ln cap="rnd"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812800" cy="497137"/>
            </a:xfrm>
            <a:prstGeom prst="rect">
              <a:avLst/>
            </a:prstGeom>
          </p:spPr>
          <p:txBody>
            <a:bodyPr anchor="ctr" bIns="50800" lIns="50800" numCol="1" rIns="50800" rtlCol="0" tIns="50800"/>
            <a:lstStyle/>
            <a:p>
              <a:pPr algn="ctr">
                <a:lnSpc>
                  <a:spcPts val="159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83655" y="1874205"/>
            <a:ext cx="3271661" cy="2178985"/>
            <a:chOff x="0" y="0"/>
            <a:chExt cx="1172489" cy="7808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2489" cy="780899"/>
            </a:xfrm>
            <a:custGeom>
              <a:avLst/>
              <a:gdLst/>
              <a:ahLst/>
              <a:cxnLst/>
              <a:rect b="b" l="l" r="r" t="t"/>
              <a:pathLst>
                <a:path h="780899" w="1172489">
                  <a:moveTo>
                    <a:pt x="54426" y="0"/>
                  </a:moveTo>
                  <a:lnTo>
                    <a:pt x="1118063" y="0"/>
                  </a:lnTo>
                  <a:cubicBezTo>
                    <a:pt x="1132498" y="0"/>
                    <a:pt x="1146341" y="5734"/>
                    <a:pt x="1156548" y="15941"/>
                  </a:cubicBezTo>
                  <a:cubicBezTo>
                    <a:pt x="1166755" y="26148"/>
                    <a:pt x="1172489" y="39991"/>
                    <a:pt x="1172489" y="54426"/>
                  </a:cubicBezTo>
                  <a:lnTo>
                    <a:pt x="1172489" y="726473"/>
                  </a:lnTo>
                  <a:cubicBezTo>
                    <a:pt x="1172489" y="740908"/>
                    <a:pt x="1166755" y="754751"/>
                    <a:pt x="1156548" y="764958"/>
                  </a:cubicBezTo>
                  <a:cubicBezTo>
                    <a:pt x="1146341" y="775165"/>
                    <a:pt x="1132498" y="780899"/>
                    <a:pt x="1118063" y="780899"/>
                  </a:cubicBezTo>
                  <a:lnTo>
                    <a:pt x="54426" y="780899"/>
                  </a:lnTo>
                  <a:cubicBezTo>
                    <a:pt x="39991" y="780899"/>
                    <a:pt x="26148" y="775165"/>
                    <a:pt x="15941" y="764958"/>
                  </a:cubicBezTo>
                  <a:cubicBezTo>
                    <a:pt x="5734" y="754751"/>
                    <a:pt x="0" y="740908"/>
                    <a:pt x="0" y="726473"/>
                  </a:cubicBezTo>
                  <a:lnTo>
                    <a:pt x="0" y="54426"/>
                  </a:lnTo>
                  <a:cubicBezTo>
                    <a:pt x="0" y="39991"/>
                    <a:pt x="5734" y="26148"/>
                    <a:pt x="15941" y="15941"/>
                  </a:cubicBezTo>
                  <a:cubicBezTo>
                    <a:pt x="26148" y="5734"/>
                    <a:pt x="39991" y="0"/>
                    <a:pt x="54426" y="0"/>
                  </a:cubicBezTo>
                  <a:close/>
                </a:path>
              </a:pathLst>
            </a:custGeom>
            <a:ln cap="rnd"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172489" cy="799949"/>
            </a:xfrm>
            <a:prstGeom prst="rect">
              <a:avLst/>
            </a:prstGeom>
          </p:spPr>
          <p:txBody>
            <a:bodyPr anchor="ctr" bIns="50800" lIns="50800" numCol="1" rIns="50800" rtlCol="0" tIns="50800"/>
            <a:lstStyle/>
            <a:p>
              <a:pPr algn="ctr">
                <a:lnSpc>
                  <a:spcPts val="1590"/>
                </a:lnSpc>
              </a:pPr>
            </a:p>
          </p:txBody>
        </p:sp>
      </p:grpSp>
      <p:grpSp>
        <p:nvGrpSpPr>
          <p:cNvPr id="16" name="Group 16"/>
          <p:cNvGrpSpPr>
            <a:grpSpLocks noChangeAspect="true"/>
          </p:cNvGrpSpPr>
          <p:nvPr/>
        </p:nvGrpSpPr>
        <p:grpSpPr>
          <a:xfrm>
            <a:off x="4969205" y="6742415"/>
            <a:ext cx="2002065" cy="2030603"/>
            <a:chOff x="0" y="0"/>
            <a:chExt cx="11582400" cy="11747500"/>
          </a:xfrm>
        </p:grpSpPr>
        <p:sp>
          <p:nvSpPr>
            <p:cNvPr id="17" name="Freeform 17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b="b" l="l" r="r" t="t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3"/>
              <a:stretch>
                <a:fillRect b="0" l="-972" r="-972" t="0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b="b" l="l" r="r" t="t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4"/>
              <a:stretch>
                <a:fillRect b="0" l="-272" r="-272" t="0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3307422" y="6487829"/>
            <a:ext cx="1112939" cy="245269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l">
              <a:lnSpc>
                <a:spcPts val="1590"/>
              </a:lnSpc>
            </a:pPr>
            <a:r>
              <a:rPr b="1" lang="en-US" sz="1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GRÁFICOS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51515" y="9310356"/>
            <a:ext cx="1279179" cy="245269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l">
              <a:lnSpc>
                <a:spcPts val="1590"/>
              </a:lnSpc>
            </a:pPr>
            <a:r>
              <a:rPr b="1" lang="en-US" sz="1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CONCLUSÃO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0063" y="2026120"/>
            <a:ext cx="2592143" cy="245269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l">
              <a:lnSpc>
                <a:spcPts val="1590"/>
              </a:lnSpc>
            </a:pPr>
            <a:r>
              <a:rPr b="1" lang="en-US" sz="1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 QUE FOI DESENVOLVIDO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3433" y="2582258"/>
            <a:ext cx="3066459" cy="1101481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ctr" indent="0" lvl="0" marL="0">
              <a:lnSpc>
                <a:spcPts val="1483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 equipe desenvolveu uma ferramenta web para analisar e exibir o comportamento cíclico das operações modulares: </a:t>
            </a:r>
            <a:r>
              <a:rPr b="1" lang="en-US" sz="14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soma, multiplicação e exponenciação.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2312" y="4718984"/>
            <a:ext cx="6367615" cy="1652588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just" indent="-151490" lvl="1" marL="302979">
              <a:lnSpc>
                <a:spcPts val="1487"/>
              </a:lnSpc>
              <a:buFont typeface="Arial"/>
              <a:buChar char="•"/>
            </a:pPr>
            <a:r>
              <a:rPr b="1" lang="en-US" sz="140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Soma</a:t>
            </a:r>
            <a:r>
              <a:rPr lang="en-US" sz="14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: é uma forma mais simples. O movimento do ponteiro ocorre de forma linear, formando uma figura parecida com um polígono regular ou uma estrela dentro de um círculo.</a:t>
            </a:r>
          </a:p>
          <a:p>
            <a:pPr algn="just" indent="-151490" lvl="1" marL="302979">
              <a:lnSpc>
                <a:spcPts val="1487"/>
              </a:lnSpc>
              <a:buFont typeface="Arial"/>
              <a:buChar char="•"/>
            </a:pPr>
            <a:r>
              <a:rPr b="1" lang="en-US" strike="noStrike" sz="1403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Multiplicação</a:t>
            </a:r>
            <a:r>
              <a:rPr lang="en-US" strike="noStrike" sz="1403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: ao invés do ponteiro "caminhar", como na soma, na multiplicação ele realiza saltos, os valores são conectados por linhas, formando um </a:t>
            </a:r>
            <a:r>
              <a:rPr b="1" lang="en-US" strike="noStrike" sz="1403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Cardioide.</a:t>
            </a:r>
          </a:p>
          <a:p>
            <a:pPr algn="just" indent="-151490" lvl="1" marL="302979">
              <a:lnSpc>
                <a:spcPts val="1487"/>
              </a:lnSpc>
              <a:buFont typeface="Arial"/>
              <a:buChar char="•"/>
            </a:pPr>
            <a:r>
              <a:rPr b="1" lang="en-US" strike="noStrike" sz="1403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Exponenciação</a:t>
            </a:r>
            <a:r>
              <a:rPr b="0" strike="noStrike" sz="1403" u="none">
                <a:solidFill>
                  <a:srgbClr val="FFFFFF"/>
                </a:solidFill>
                <a:latin typeface="Agrandir Bold"/>
              </a:rPr>
              <a:t>:</a:t>
            </a:r>
            <a:r>
              <a:rPr b="1" strike="noStrike" sz="1403" u="none">
                <a:solidFill>
                  <a:srgbClr val="FFFFFF"/>
                </a:solidFill>
                <a:latin typeface="Agrandir Bold"/>
              </a:rPr>
              <a:t> </a:t>
            </a:r>
            <a:r>
              <a:rPr lang="en-US" strike="noStrike" sz="1403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apresenta saltos diferentes da multiplicação, que dão a impressão de aleatoriedade, essa impressão é utilizada na base da criptografia. Esse gráfico forma uma </a:t>
            </a:r>
            <a:r>
              <a:rPr b="1" lang="en-US" strike="noStrike" sz="1403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Órbita</a:t>
            </a:r>
            <a:r>
              <a:rPr lang="en-US" strike="noStrike" sz="1403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5512" y="9631098"/>
            <a:ext cx="6234560" cy="912019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ctr">
              <a:lnSpc>
                <a:spcPts val="1275"/>
              </a:lnSpc>
            </a:pPr>
            <a:r>
              <a:rPr lang="en-US" sz="12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Em suma, todas essas operações têm diversos usos na tecnologia, por exemplo: </a:t>
            </a:r>
            <a:r>
              <a:rPr b="1" lang="en-US" sz="120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 multiplicação </a:t>
            </a:r>
            <a:r>
              <a:rPr lang="en-US" sz="12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é utilizada na geração de texturas para objetos 3D, </a:t>
            </a:r>
            <a:r>
              <a:rPr b="1" lang="en-US" sz="120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 soma </a:t>
            </a:r>
            <a:r>
              <a:rPr lang="en-US" sz="12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é utilizada para garantir que dados não se corromperam durante uma transferência e a </a:t>
            </a:r>
            <a:r>
              <a:rPr b="1" lang="en-US" sz="120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exponenciação </a:t>
            </a:r>
            <a:r>
              <a:rPr lang="en-US" sz="12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é utilizada como base para a criptografia. </a:t>
            </a:r>
          </a:p>
          <a:p>
            <a:pPr algn="ctr" indent="0" lvl="0" marL="0">
              <a:lnSpc>
                <a:spcPts val="1275"/>
              </a:lnSpc>
              <a:spcBef>
                <a:spcPct val="0"/>
              </a:spcBef>
            </a:pPr>
            <a:r>
              <a:rPr lang="en-US" sz="12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Tendo isso em vista, essa ferramenta facilita a compreensão de cada uma delas, através do gráfico, para que sejam usadas da maneira mais eficiente em suas áreas.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2300" y="546189"/>
            <a:ext cx="2068268" cy="910233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ctr">
              <a:lnSpc>
                <a:spcPts val="2319"/>
              </a:lnSpc>
            </a:pPr>
            <a:r>
              <a:rPr lang="en-US" sz="2441">
                <a:solidFill>
                  <a:srgbClr val="F8F8EC"/>
                </a:solidFill>
                <a:latin typeface="Museo Moderno"/>
                <a:ea typeface="Museo Moderno"/>
                <a:cs typeface="Museo Moderno"/>
                <a:sym typeface="Museo Moderno"/>
              </a:rPr>
              <a:t>RELATÓRIO EXECUTIVO DE PESQUISA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06692" y="2016060"/>
            <a:ext cx="1043140" cy="245269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l">
              <a:lnSpc>
                <a:spcPts val="1590"/>
              </a:lnSpc>
            </a:pPr>
            <a:r>
              <a:rPr b="1" lang="en-US" sz="1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OBJETIVO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08160" y="2313039"/>
            <a:ext cx="2664028" cy="1609430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ctr" indent="0" lvl="0" marL="0">
              <a:lnSpc>
                <a:spcPts val="1487"/>
              </a:lnSpc>
              <a:spcBef>
                <a:spcPct val="0"/>
              </a:spcBef>
            </a:pPr>
            <a:r>
              <a:rPr lang="en-US" sz="14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 sistema representa o funcionamento dessas operações por meio de um relógio e as diferentes formas geométricas que seu ponteiro compõe ao se mover. Essa representação visual busca facilitar a compreensão do comportamento dessas funções e facilitar o uso delas.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56875" y="4395486"/>
            <a:ext cx="1211904" cy="245269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l">
              <a:lnSpc>
                <a:spcPts val="1590"/>
              </a:lnSpc>
            </a:pPr>
            <a:r>
              <a:rPr b="1" lang="en-US" sz="1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OPERAÇÕES</a:t>
            </a:r>
          </a:p>
        </p:txBody>
      </p:sp>
      <p:grpSp>
        <p:nvGrpSpPr>
          <p:cNvPr id="29" name="Group 29"/>
          <p:cNvGrpSpPr>
            <a:grpSpLocks noChangeAspect="true"/>
          </p:cNvGrpSpPr>
          <p:nvPr/>
        </p:nvGrpSpPr>
        <p:grpSpPr>
          <a:xfrm>
            <a:off x="2778967" y="6742415"/>
            <a:ext cx="2002065" cy="2030603"/>
            <a:chOff x="0" y="0"/>
            <a:chExt cx="11582400" cy="11747500"/>
          </a:xfrm>
        </p:grpSpPr>
        <p:sp>
          <p:nvSpPr>
            <p:cNvPr id="30" name="Freeform 30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b="b" l="l" r="r" t="t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5"/>
              <a:stretch>
                <a:fillRect b="0" l="-4481" r="-4481" t="0"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b="b" l="l" r="r" t="t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4"/>
              <a:stretch>
                <a:fillRect b="0" l="-272" r="-272" t="0"/>
              </a:stretch>
            </a:blipFill>
          </p:spPr>
        </p:sp>
      </p:grpSp>
      <p:grpSp>
        <p:nvGrpSpPr>
          <p:cNvPr id="32" name="Group 32"/>
          <p:cNvGrpSpPr>
            <a:grpSpLocks noChangeAspect="true"/>
          </p:cNvGrpSpPr>
          <p:nvPr/>
        </p:nvGrpSpPr>
        <p:grpSpPr>
          <a:xfrm>
            <a:off x="604186" y="6696695"/>
            <a:ext cx="2002065" cy="2030603"/>
            <a:chOff x="0" y="0"/>
            <a:chExt cx="11582400" cy="11747500"/>
          </a:xfrm>
        </p:grpSpPr>
        <p:sp>
          <p:nvSpPr>
            <p:cNvPr id="33" name="Freeform 33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b="b" l="l" r="r" t="t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6"/>
              <a:stretch>
                <a:fillRect b="-1231" l="223" r="223" t="-1231"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b="b" l="l" r="r" t="t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4"/>
              <a:stretch>
                <a:fillRect b="0" l="-272" r="-272" t="0"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834456" y="8887896"/>
            <a:ext cx="1645596" cy="337394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MULTIPLICAÇÃO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84275" y="8899711"/>
            <a:ext cx="1836839" cy="315218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EXPONENCIAÇÃO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454082" y="8889623"/>
            <a:ext cx="1114873" cy="314772"/>
          </a:xfrm>
          <a:prstGeom prst="rect">
            <a:avLst/>
          </a:prstGeom>
        </p:spPr>
        <p:txBody>
          <a:bodyPr anchor="t" bIns="0" lIns="0" numCol="1" rIns="0" rtlCol="0" t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Words>0</Words>
  <Paragraphs>0</Paragraphs>
  <Slides>0</Slides>
  <Notes>0</Notes>
  <TotalTime>0</TotalTime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baseType="lpstr" size="1">
      <vt:lpstr>Office Theme</vt:lpstr>
    </vt:vector>
  </TitlesOfParts>
  <LinksUpToDate>false</LinksUpToDate>
  <SharedDoc>false</SharedDoc>
  <HyperlinksChanged>false</HyperlinksChanged>
  <Application>Microsoft Office PowerPoint</Application>
  <AppVersion>14.0000</AppVers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DAHDyyzRCHY</dc:identifier>
  <dcterms:modified xsi:type="dcterms:W3CDTF">2011-08-01T06:04:30Z</dcterms:modified>
  <cp:revision>1</cp:revision>
  <dc:title>Verde Laranja e Branco Corporativo Relatório A4</dc:title>
</cp:coreProperties>
</file>